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talk: three engineering paradigms, each triggered by the failures of the one before. The rail at the bottom is the map for the whole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slide. Each phase is a response to the previous phase's wall: prompts hit statelessness, context hit integration complexity, harnesses absorb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engineering made the model programmable in plain language. Emphasize: no fine-tuning, no infrastructure — just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structural failure, not a prompt-writing failure — that's why better prompts couldn't fix them. The violet banner hands off to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reframe: you can't change the weights, but you fully own the window. The diagram shows the four input classes every context system manages.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pillars. RAG solves grounding, memory solves state, tool use solves action. MCP in 2024 matters because it standardized the tool layer across vendors.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first, then the four subsystems, then how frameworks matured: from one brave loop (AutoGPT) to standardized, productized runtimes.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products, five postures: pioneer, deep-research harness, protocol-native, self-hosted gateway, open-weight stack. The pattern card is the 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one row at a time. The 'unit of work' row is the sharpest differentiator: prompt → window →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nesting visual: nothing was abandoned — prompts live inside context, context lives inside the harness.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492240" y="292608"/>
            <a:ext cx="822960" cy="210312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92608"/>
            <a:ext cx="777240" cy="365760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092440" y="256032"/>
            <a:ext cx="594360" cy="402336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92608"/>
            <a:ext cx="228600" cy="786384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1078992"/>
            <a:ext cx="960120" cy="219456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658368"/>
            <a:ext cx="411480" cy="640080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903720" y="1078992"/>
            <a:ext cx="640080" cy="292608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502920"/>
            <a:ext cx="411480" cy="868680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503920" y="868680"/>
            <a:ext cx="292608" cy="429768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9380" y="480060"/>
            <a:ext cx="45720" cy="45720"/>
          </a:xfrm>
          <a:prstGeom prst="ellipse">
            <a:avLst/>
          </a:prstGeom>
          <a:solidFill>
            <a:srgbClr val="33D6E8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83196" y="260604"/>
            <a:ext cx="64008" cy="64008"/>
          </a:xfrm>
          <a:prstGeom prst="ellipse">
            <a:avLst/>
          </a:prstGeom>
          <a:solidFill>
            <a:srgbClr val="9F8C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69580" y="635508"/>
            <a:ext cx="45720" cy="45720"/>
          </a:xfrm>
          <a:prstGeom prst="ellipse">
            <a:avLst/>
          </a:prstGeom>
          <a:solidFill>
            <a:srgbClr val="35E0A1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663940" y="233172"/>
            <a:ext cx="45720" cy="45720"/>
          </a:xfrm>
          <a:prstGeom prst="ellipse">
            <a:avLst/>
          </a:prstGeom>
          <a:solidFill>
            <a:srgbClr val="33D6E8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516368" y="1051560"/>
            <a:ext cx="54864" cy="54864"/>
          </a:xfrm>
          <a:prstGeom prst="ellipse">
            <a:avLst/>
          </a:prstGeom>
          <a:solidFill>
            <a:srgbClr val="33D6E8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67344" y="1261872"/>
            <a:ext cx="73152" cy="73152"/>
          </a:xfrm>
          <a:prstGeom prst="ellipse">
            <a:avLst/>
          </a:prstGeom>
          <a:solidFill>
            <a:srgbClr val="9F8C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80860" y="1348740"/>
            <a:ext cx="45720" cy="45720"/>
          </a:xfrm>
          <a:prstGeom prst="ellipse">
            <a:avLst/>
          </a:prstGeom>
          <a:solidFill>
            <a:srgbClr val="35E0A1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0" y="850392"/>
            <a:ext cx="36576" cy="36576"/>
          </a:xfrm>
          <a:prstGeom prst="ellipse">
            <a:avLst/>
          </a:prstGeom>
          <a:solidFill>
            <a:srgbClr val="35E0A1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" y="4114800"/>
            <a:ext cx="704088" cy="292608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77240" y="4407408"/>
            <a:ext cx="274320" cy="393192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4407408"/>
            <a:ext cx="640080" cy="329184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691640" y="4370832"/>
            <a:ext cx="640080" cy="365760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47472" y="4069080"/>
            <a:ext cx="1481328" cy="45720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691640" y="4069080"/>
            <a:ext cx="137160" cy="667512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" y="4091940"/>
            <a:ext cx="45720" cy="45720"/>
          </a:xfrm>
          <a:prstGeom prst="ellipse">
            <a:avLst/>
          </a:prstGeom>
          <a:solidFill>
            <a:srgbClr val="9F8CFF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9556" y="4375404"/>
            <a:ext cx="64008" cy="64008"/>
          </a:xfrm>
          <a:prstGeom prst="ellipse">
            <a:avLst/>
          </a:prstGeom>
          <a:solidFill>
            <a:srgbClr val="33D6E8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54380" y="4777740"/>
            <a:ext cx="45720" cy="45720"/>
          </a:xfrm>
          <a:prstGeom prst="ellipse">
            <a:avLst/>
          </a:prstGeom>
          <a:solidFill>
            <a:srgbClr val="35E0A1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664208" y="4709160"/>
            <a:ext cx="54864" cy="54864"/>
          </a:xfrm>
          <a:prstGeom prst="ellipse">
            <a:avLst/>
          </a:prstGeom>
          <a:solidFill>
            <a:srgbClr val="33D6E8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95144" y="4334256"/>
            <a:ext cx="73152" cy="73152"/>
          </a:xfrm>
          <a:prstGeom prst="ellipse">
            <a:avLst/>
          </a:prstGeom>
          <a:solidFill>
            <a:srgbClr val="9F8C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4050792"/>
            <a:ext cx="36576" cy="36576"/>
          </a:xfrm>
          <a:prstGeom prst="ellipse">
            <a:avLst/>
          </a:prstGeom>
          <a:solidFill>
            <a:srgbClr val="35E0A1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566928"/>
            <a:ext cx="82296" cy="82296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5120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ENGINEERING // A FIELD BRIEFING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457200" y="26974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agent design moved from crafting prompts, to engineering context, to building the harness — and why each shift became inevitable.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8640" y="4224528"/>
            <a:ext cx="804672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224528"/>
            <a:ext cx="2651760" cy="0"/>
          </a:xfrm>
          <a:prstGeom prst="line">
            <a:avLst/>
          </a:prstGeom>
          <a:noFill/>
          <a:ln w="25400">
            <a:solidFill>
              <a:srgbClr val="33D6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27832" y="4224528"/>
            <a:ext cx="2624328" cy="0"/>
          </a:xfrm>
          <a:prstGeom prst="line">
            <a:avLst/>
          </a:prstGeom>
          <a:noFill/>
          <a:ln w="25400">
            <a:solidFill>
              <a:srgbClr val="9F8C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9592" y="4224528"/>
            <a:ext cx="2715768" cy="0"/>
          </a:xfrm>
          <a:prstGeom prst="line">
            <a:avLst/>
          </a:prstGeom>
          <a:noFill/>
          <a:ln w="25400">
            <a:solidFill>
              <a:srgbClr val="35E0A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4041648"/>
            <a:ext cx="365760" cy="365760"/>
          </a:xfrm>
          <a:prstGeom prst="ellipse">
            <a:avLst/>
          </a:prstGeom>
          <a:solidFill>
            <a:srgbClr val="33D6E8">
              <a:alpha val="1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453896" y="4123944"/>
            <a:ext cx="201168" cy="201168"/>
          </a:xfrm>
          <a:prstGeom prst="ellipse">
            <a:avLst/>
          </a:prstGeom>
          <a:solidFill>
            <a:srgbClr val="0B0F1A"/>
          </a:solidFill>
          <a:ln w="19050">
            <a:solidFill>
              <a:srgbClr val="33D6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08760" y="4178808"/>
            <a:ext cx="91440" cy="91440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498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PROMPT ENGINEERING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7000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 – 2023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389120" y="4041648"/>
            <a:ext cx="365760" cy="365760"/>
          </a:xfrm>
          <a:prstGeom prst="ellipse">
            <a:avLst/>
          </a:prstGeom>
          <a:solidFill>
            <a:srgbClr val="9F8CFF">
              <a:alpha val="1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71416" y="4123944"/>
            <a:ext cx="201168" cy="201168"/>
          </a:xfrm>
          <a:prstGeom prst="ellipse">
            <a:avLst/>
          </a:prstGeom>
          <a:solidFill>
            <a:srgbClr val="0B0F1A"/>
          </a:solidFill>
          <a:ln w="19050">
            <a:solidFill>
              <a:srgbClr val="9F8C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26280" y="4178808"/>
            <a:ext cx="91440" cy="91440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48" name="Text 46"/>
          <p:cNvSpPr/>
          <p:nvPr/>
        </p:nvSpPr>
        <p:spPr>
          <a:xfrm>
            <a:off x="3291840" y="4498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CONTEXT ENGINEERING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91840" y="47000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 – 2025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06640" y="4041648"/>
            <a:ext cx="365760" cy="365760"/>
          </a:xfrm>
          <a:prstGeom prst="ellipse">
            <a:avLst/>
          </a:prstGeom>
          <a:solidFill>
            <a:srgbClr val="35E0A1">
              <a:alpha val="1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88936" y="4123944"/>
            <a:ext cx="201168" cy="201168"/>
          </a:xfrm>
          <a:prstGeom prst="ellipse">
            <a:avLst/>
          </a:prstGeom>
          <a:solidFill>
            <a:srgbClr val="0B0F1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43800" y="4178808"/>
            <a:ext cx="91440" cy="91440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4498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HARNESS ENGINEERING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09360" y="47000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→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82296" cy="82296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834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Paradigm Shifts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863840" y="320040"/>
            <a:ext cx="640080" cy="246888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183880" y="566928"/>
            <a:ext cx="320040" cy="393192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566928"/>
            <a:ext cx="228600" cy="438912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40980" y="297180"/>
            <a:ext cx="45720" cy="45720"/>
          </a:xfrm>
          <a:prstGeom prst="ellipse">
            <a:avLst/>
          </a:prstGeom>
          <a:solidFill>
            <a:srgbClr val="33D6E8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71916" y="534924"/>
            <a:ext cx="64008" cy="64008"/>
          </a:xfrm>
          <a:prstGeom prst="ellipse">
            <a:avLst/>
          </a:prstGeom>
          <a:solidFill>
            <a:srgbClr val="35E0A1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65592" y="941832"/>
            <a:ext cx="36576" cy="36576"/>
          </a:xfrm>
          <a:prstGeom prst="ellipse">
            <a:avLst/>
          </a:prstGeom>
          <a:solidFill>
            <a:srgbClr val="9F8C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09660" y="982980"/>
            <a:ext cx="45720" cy="45720"/>
          </a:xfrm>
          <a:prstGeom prst="ellipse">
            <a:avLst/>
          </a:prstGeom>
          <a:solidFill>
            <a:srgbClr val="33D6E8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761488"/>
            <a:ext cx="7863840" cy="0"/>
          </a:xfrm>
          <a:prstGeom prst="line">
            <a:avLst/>
          </a:prstGeom>
          <a:noFill/>
          <a:ln w="15875">
            <a:solidFill>
              <a:srgbClr val="232E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61488"/>
            <a:ext cx="2560320" cy="0"/>
          </a:xfrm>
          <a:prstGeom prst="line">
            <a:avLst/>
          </a:prstGeom>
          <a:noFill/>
          <a:ln w="28575">
            <a:solidFill>
              <a:srgbClr val="33D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2761488"/>
            <a:ext cx="2569464" cy="0"/>
          </a:xfrm>
          <a:prstGeom prst="line">
            <a:avLst/>
          </a:prstGeom>
          <a:noFill/>
          <a:ln w="28575">
            <a:solidFill>
              <a:srgbClr val="9F8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4728" y="2761488"/>
            <a:ext cx="2679192" cy="0"/>
          </a:xfrm>
          <a:prstGeom prst="line">
            <a:avLst/>
          </a:prstGeom>
          <a:noFill/>
          <a:ln w="28575">
            <a:solidFill>
              <a:srgbClr val="35E0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64792" y="2578608"/>
            <a:ext cx="365760" cy="365760"/>
          </a:xfrm>
          <a:prstGeom prst="ellipse">
            <a:avLst/>
          </a:prstGeom>
          <a:solidFill>
            <a:srgbClr val="33D6E8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47088" y="2660904"/>
            <a:ext cx="201168" cy="201168"/>
          </a:xfrm>
          <a:prstGeom prst="ellipse">
            <a:avLst/>
          </a:prstGeom>
          <a:solidFill>
            <a:srgbClr val="0B0F1A"/>
          </a:solidFill>
          <a:ln w="19050">
            <a:solidFill>
              <a:srgbClr val="33D6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2715768"/>
            <a:ext cx="91440" cy="91440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10241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 — 2020–2023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" y="12252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67512" y="16276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the perfect ask. The model as a text interface — patterns, not programs.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" y="3136392"/>
            <a:ext cx="54864" cy="54864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" y="30906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72184" y="307695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proves few-shot prompting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" y="3666744"/>
            <a:ext cx="54864" cy="54864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36210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72184" y="360730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makes prompting mainstream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2578608"/>
            <a:ext cx="365760" cy="365760"/>
          </a:xfrm>
          <a:prstGeom prst="ellipse">
            <a:avLst/>
          </a:prstGeom>
          <a:solidFill>
            <a:srgbClr val="9F8CFF">
              <a:alpha val="1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71416" y="2660904"/>
            <a:ext cx="201168" cy="201168"/>
          </a:xfrm>
          <a:prstGeom prst="ellipse">
            <a:avLst/>
          </a:prstGeom>
          <a:solidFill>
            <a:srgbClr val="0B0F1A"/>
          </a:solidFill>
          <a:ln w="19050">
            <a:solidFill>
              <a:srgbClr val="9F8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2715768"/>
            <a:ext cx="91440" cy="91440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10241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 — 2023–2025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12252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3291840" y="16276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Curating what the model sees. Retrieval, memory, and tools feed the window.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91840" y="3136392"/>
            <a:ext cx="54864" cy="54864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19856" y="30906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96512" y="307695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lands in APIs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91840" y="3666744"/>
            <a:ext cx="54864" cy="54864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38" name="Text 36"/>
          <p:cNvSpPr/>
          <p:nvPr/>
        </p:nvSpPr>
        <p:spPr>
          <a:xfrm>
            <a:off x="3419856" y="36210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96512" y="360730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standardizes tool access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13448" y="2578608"/>
            <a:ext cx="365760" cy="365760"/>
          </a:xfrm>
          <a:prstGeom prst="ellipse">
            <a:avLst/>
          </a:prstGeom>
          <a:solidFill>
            <a:srgbClr val="35E0A1">
              <a:alpha val="1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095744" y="2660904"/>
            <a:ext cx="201168" cy="201168"/>
          </a:xfrm>
          <a:prstGeom prst="ellipse">
            <a:avLst/>
          </a:prstGeom>
          <a:solidFill>
            <a:srgbClr val="0B0F1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50608" y="2715768"/>
            <a:ext cx="91440" cy="91440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43" name="Text 41"/>
          <p:cNvSpPr/>
          <p:nvPr/>
        </p:nvSpPr>
        <p:spPr>
          <a:xfrm>
            <a:off x="5916168" y="10241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 — 2025 →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16168" y="12252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1850" dirty="0"/>
          </a:p>
        </p:txBody>
      </p:sp>
      <p:sp>
        <p:nvSpPr>
          <p:cNvPr id="45" name="Text 43"/>
          <p:cNvSpPr/>
          <p:nvPr/>
        </p:nvSpPr>
        <p:spPr>
          <a:xfrm>
            <a:off x="5916168" y="16276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everything around the model. Loops, guardrails, runtimes, evals.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916168" y="3136392"/>
            <a:ext cx="54864" cy="54864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47" name="Text 45"/>
          <p:cNvSpPr/>
          <p:nvPr/>
        </p:nvSpPr>
        <p:spPr>
          <a:xfrm>
            <a:off x="6044184" y="30906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20840" y="307695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AutoGPT previews the agent loop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16168" y="3666744"/>
            <a:ext cx="54864" cy="54864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50" name="Text 48"/>
          <p:cNvSpPr/>
          <p:nvPr/>
        </p:nvSpPr>
        <p:spPr>
          <a:xfrm>
            <a:off x="6044184" y="36210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20840" y="360730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CLIs &amp; agent gateways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869180"/>
            <a:ext cx="402336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6908" y="4818888"/>
            <a:ext cx="100584" cy="100584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54" name="Shape 52"/>
          <p:cNvSpPr/>
          <p:nvPr/>
        </p:nvSpPr>
        <p:spPr>
          <a:xfrm>
            <a:off x="608076" y="4818888"/>
            <a:ext cx="100584" cy="100584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55" name="Shape 53"/>
          <p:cNvSpPr/>
          <p:nvPr/>
        </p:nvSpPr>
        <p:spPr>
          <a:xfrm>
            <a:off x="809244" y="4818888"/>
            <a:ext cx="100584" cy="100584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56" name="Text 54"/>
          <p:cNvSpPr/>
          <p:nvPr/>
        </p:nvSpPr>
        <p:spPr>
          <a:xfrm>
            <a:off x="8138160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82296" cy="82296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834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 // 2020–2023 · PROMPT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 of Asking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743200" cy="3429000"/>
          </a:xfrm>
          <a:prstGeom prst="roundRect">
            <a:avLst>
              <a:gd name="adj" fmla="val 233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898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719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16736" y="1691640"/>
            <a:ext cx="1755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shows few-shot learning — examples replace fine-tuning.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334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16736" y="2606040"/>
            <a:ext cx="1755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+ RLHF make instruction-following mainstream.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5478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16736" y="3520440"/>
            <a:ext cx="1755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is the program: language as the interface.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01568" y="1207008"/>
            <a:ext cx="2578608" cy="1645920"/>
          </a:xfrm>
          <a:prstGeom prst="roundRect">
            <a:avLst>
              <a:gd name="adj" fmla="val 3889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736" y="1389888"/>
            <a:ext cx="402336" cy="402336"/>
          </a:xfrm>
          <a:prstGeom prst="ellipse">
            <a:avLst/>
          </a:prstGeom>
          <a:solidFill>
            <a:srgbClr val="10283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9297" y="1486449"/>
            <a:ext cx="209215" cy="20921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114800" y="14264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examples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02736" y="188366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3–5 worked examples into the prompt; the model pattern-matches the task.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08192" y="1207008"/>
            <a:ext cx="2578608" cy="1645920"/>
          </a:xfrm>
          <a:prstGeom prst="roundRect">
            <a:avLst>
              <a:gd name="adj" fmla="val 3889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389888"/>
            <a:ext cx="402336" cy="402336"/>
          </a:xfrm>
          <a:prstGeom prst="ellipse">
            <a:avLst/>
          </a:prstGeom>
          <a:solidFill>
            <a:srgbClr val="10283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921" y="1486449"/>
            <a:ext cx="209215" cy="20921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21424" y="14264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309360" y="188366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“Think step by step” — surfacing reasoning lifts accuracy on hard problems.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401568" y="2990088"/>
            <a:ext cx="2578608" cy="1645920"/>
          </a:xfrm>
          <a:prstGeom prst="roundRect">
            <a:avLst>
              <a:gd name="adj" fmla="val 3889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602736" y="3172968"/>
            <a:ext cx="402336" cy="402336"/>
          </a:xfrm>
          <a:prstGeom prst="ellipse">
            <a:avLst/>
          </a:prstGeom>
          <a:solidFill>
            <a:srgbClr val="10283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297" y="3269529"/>
            <a:ext cx="209215" cy="20921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114800" y="32095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&amp; schema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3602736" y="366674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plus strict output schemas keep answers on-spec and parseable.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108192" y="2990088"/>
            <a:ext cx="2578608" cy="1645920"/>
          </a:xfrm>
          <a:prstGeom prst="roundRect">
            <a:avLst>
              <a:gd name="adj" fmla="val 3889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09360" y="3172968"/>
            <a:ext cx="402336" cy="402336"/>
          </a:xfrm>
          <a:prstGeom prst="ellipse">
            <a:avLst/>
          </a:prstGeom>
          <a:solidFill>
            <a:srgbClr val="10283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921" y="3269529"/>
            <a:ext cx="209215" cy="20921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21424" y="32095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Self-consistency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309360" y="366674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many reasoning paths, then vote — the majority answer wins.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457200" y="4869180"/>
            <a:ext cx="402336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06908" y="4818888"/>
            <a:ext cx="100584" cy="100584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35" name="Shape 29"/>
          <p:cNvSpPr/>
          <p:nvPr/>
        </p:nvSpPr>
        <p:spPr>
          <a:xfrm>
            <a:off x="624078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36" name="Shape 30"/>
          <p:cNvSpPr/>
          <p:nvPr/>
        </p:nvSpPr>
        <p:spPr>
          <a:xfrm>
            <a:off x="825246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37" name="Text 31"/>
          <p:cNvSpPr/>
          <p:nvPr/>
        </p:nvSpPr>
        <p:spPr>
          <a:xfrm>
            <a:off x="1051560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PROMPT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8138160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82296" cy="82296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834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 //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Prompting Hit the Wall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89888"/>
            <a:ext cx="402336" cy="402336"/>
          </a:xfrm>
          <a:prstGeom prst="ellipse">
            <a:avLst/>
          </a:prstGeom>
          <a:solidFill>
            <a:srgbClr val="1028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41" y="1486449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" y="1389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by default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" y="17190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starts from zero — nothing carries across turns or tasks.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207008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389888"/>
            <a:ext cx="402336" cy="402336"/>
          </a:xfrm>
          <a:prstGeom prst="ellipse">
            <a:avLst/>
          </a:prstGeom>
          <a:solidFill>
            <a:srgbClr val="1028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601" y="148644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04104" y="1389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context ceiling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04104" y="17190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windows meant long documents and histories simply didn't fit.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560320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10283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41" y="2839761"/>
            <a:ext cx="209215" cy="2092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52144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grounding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52144" y="30723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froze at training time, so models hallucinated confidently.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2560320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92040" y="2743200"/>
            <a:ext cx="402336" cy="402336"/>
          </a:xfrm>
          <a:prstGeom prst="ellipse">
            <a:avLst/>
          </a:prstGeom>
          <a:solidFill>
            <a:srgbClr val="10283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601" y="2839761"/>
            <a:ext cx="209215" cy="20921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04104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hands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04104" y="30723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could talk about the world but never act on it.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C1B36"/>
          </a:solidFill>
          <a:ln w="9525">
            <a:solidFill>
              <a:srgbClr val="3D386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moved from </a:t>
            </a:r>
            <a:pPr algn="ctr" indent="0" marL="0">
              <a:buNone/>
            </a:pPr>
            <a:r>
              <a:rPr lang="en-US" sz="1250" b="1" i="1" dirty="0">
                <a:solidFill>
                  <a:srgbClr val="33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ask</a:t>
            </a:r>
            <a:pPr algn="ctr" indent="0" marL="0">
              <a:buNone/>
            </a:pPr>
            <a:r>
              <a:rPr lang="en-US" sz="1250" i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ctr" indent="0" marL="0">
              <a:buNone/>
            </a:pPr>
            <a:r>
              <a:rPr lang="en-US" sz="1250" b="1" i="1" dirty="0">
                <a:solidFill>
                  <a:srgbClr val="9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sees</a:t>
            </a:r>
            <a:pPr algn="ctr" indent="0" marL="0">
              <a:buNone/>
            </a:pPr>
            <a:r>
              <a:rPr lang="en-US" sz="1250" i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enter Context Engineering.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57200" y="4869180"/>
            <a:ext cx="402336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06908" y="4818888"/>
            <a:ext cx="100584" cy="100584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28" name="Shape 22"/>
          <p:cNvSpPr/>
          <p:nvPr/>
        </p:nvSpPr>
        <p:spPr>
          <a:xfrm>
            <a:off x="624078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29" name="Shape 23"/>
          <p:cNvSpPr/>
          <p:nvPr/>
        </p:nvSpPr>
        <p:spPr>
          <a:xfrm>
            <a:off x="825246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30" name="Text 24"/>
          <p:cNvSpPr/>
          <p:nvPr/>
        </p:nvSpPr>
        <p:spPr>
          <a:xfrm>
            <a:off x="1051560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PROMPT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138160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82296" cy="82296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834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 // 2023–2025 · CONTEXT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the Controllable Half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model is fixed. The context window is the only thing you engineer.”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65760" cy="365760"/>
          </a:xfrm>
          <a:prstGeom prst="ellipse">
            <a:avLst/>
          </a:prstGeom>
          <a:solidFill>
            <a:srgbClr val="221F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82" y="1751990"/>
            <a:ext cx="190195" cy="190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664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a function of input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2688" y="1956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window, change the behavior — context is deterministic leverage.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670048"/>
            <a:ext cx="365760" cy="365760"/>
          </a:xfrm>
          <a:prstGeom prst="ellipse">
            <a:avLst/>
          </a:prstGeom>
          <a:solidFill>
            <a:srgbClr val="221F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" y="2757830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670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scarce &amp; costly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32688" y="29626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cost money and attention; junk crowds out signal and degrades reasoning.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675888"/>
            <a:ext cx="365760" cy="365760"/>
          </a:xfrm>
          <a:prstGeom prst="ellipse">
            <a:avLst/>
          </a:prstGeom>
          <a:solidFill>
            <a:srgbClr val="221F3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" y="3763670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2688" y="36758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are stateless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32688" y="396849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isn't a feature you get — it's a system you build.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709160" y="169164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C1B36"/>
          </a:solidFill>
          <a:ln w="9525">
            <a:solidFill>
              <a:srgbClr val="3D386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· RAG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709160" y="2258568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C1B36"/>
          </a:solidFill>
          <a:ln w="9525">
            <a:solidFill>
              <a:srgbClr val="3D386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709160" y="2825496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C1B36"/>
          </a:solidFill>
          <a:ln w="9525">
            <a:solidFill>
              <a:srgbClr val="3D386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709160" y="3392424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1C1B36"/>
          </a:solidFill>
          <a:ln w="9525">
            <a:solidFill>
              <a:srgbClr val="3D386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goal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108192" y="1929384"/>
            <a:ext cx="365760" cy="832104"/>
          </a:xfrm>
          <a:prstGeom prst="line">
            <a:avLst/>
          </a:prstGeom>
          <a:noFill/>
          <a:ln w="15875">
            <a:solidFill>
              <a:srgbClr val="3D3867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6108192" y="2496312"/>
            <a:ext cx="365760" cy="265176"/>
          </a:xfrm>
          <a:prstGeom prst="line">
            <a:avLst/>
          </a:prstGeom>
          <a:noFill/>
          <a:ln w="15875">
            <a:solidFill>
              <a:srgbClr val="3D3867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 flipV="1">
            <a:off x="6108192" y="2761488"/>
            <a:ext cx="365760" cy="301752"/>
          </a:xfrm>
          <a:prstGeom prst="line">
            <a:avLst/>
          </a:prstGeom>
          <a:noFill/>
          <a:ln w="15875">
            <a:solidFill>
              <a:srgbClr val="3D3867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 flipV="1">
            <a:off x="6108192" y="2761488"/>
            <a:ext cx="365760" cy="868680"/>
          </a:xfrm>
          <a:prstGeom prst="line">
            <a:avLst/>
          </a:prstGeom>
          <a:noFill/>
          <a:ln w="15875">
            <a:solidFill>
              <a:srgbClr val="3D3867"/>
            </a:solidFill>
            <a:prstDash val="solid"/>
            <a:tailEnd type="triangle"/>
          </a:ln>
        </p:spPr>
      </p:sp>
      <p:sp>
        <p:nvSpPr>
          <p:cNvPr id="26" name="Text 21"/>
          <p:cNvSpPr/>
          <p:nvPr/>
        </p:nvSpPr>
        <p:spPr>
          <a:xfrm>
            <a:off x="6492240" y="2304288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0B0F1A"/>
          </a:solidFill>
          <a:ln w="19050">
            <a:solidFill>
              <a:srgbClr val="9F8C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memory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827264" y="2761488"/>
            <a:ext cx="274320" cy="0"/>
          </a:xfrm>
          <a:prstGeom prst="line">
            <a:avLst/>
          </a:prstGeom>
          <a:noFill/>
          <a:ln w="15875">
            <a:solidFill>
              <a:srgbClr val="9F8CFF"/>
            </a:solidFill>
            <a:prstDash val="solid"/>
            <a:tailEnd type="triangle"/>
          </a:ln>
        </p:spPr>
      </p:sp>
      <p:sp>
        <p:nvSpPr>
          <p:cNvPr id="28" name="Text 23"/>
          <p:cNvSpPr/>
          <p:nvPr/>
        </p:nvSpPr>
        <p:spPr>
          <a:xfrm>
            <a:off x="8119872" y="219456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1C1B36"/>
          </a:solidFill>
          <a:ln w="9525">
            <a:solidFill>
              <a:srgbClr val="3D386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403336" y="2670048"/>
            <a:ext cx="0" cy="347472"/>
          </a:xfrm>
          <a:prstGeom prst="line">
            <a:avLst/>
          </a:prstGeom>
          <a:noFill/>
          <a:ln w="15875">
            <a:solidFill>
              <a:srgbClr val="9F8CFF"/>
            </a:solidFill>
            <a:prstDash val="solid"/>
            <a:tailEnd type="triangle"/>
          </a:ln>
        </p:spPr>
      </p:sp>
      <p:sp>
        <p:nvSpPr>
          <p:cNvPr id="30" name="Text 25"/>
          <p:cNvSpPr/>
          <p:nvPr/>
        </p:nvSpPr>
        <p:spPr>
          <a:xfrm>
            <a:off x="7699248" y="3035808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C1B36"/>
          </a:solidFill>
          <a:ln w="9525">
            <a:solidFill>
              <a:srgbClr val="3D386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action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709160" y="41330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input on the left is now an engineering decision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457200" y="4869180"/>
            <a:ext cx="402336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22910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34" name="Shape 29"/>
          <p:cNvSpPr/>
          <p:nvPr/>
        </p:nvSpPr>
        <p:spPr>
          <a:xfrm>
            <a:off x="608076" y="4818888"/>
            <a:ext cx="100584" cy="100584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35" name="Shape 30"/>
          <p:cNvSpPr/>
          <p:nvPr/>
        </p:nvSpPr>
        <p:spPr>
          <a:xfrm>
            <a:off x="825246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36" name="Text 31"/>
          <p:cNvSpPr/>
          <p:nvPr/>
        </p:nvSpPr>
        <p:spPr>
          <a:xfrm>
            <a:off x="1051560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CONTEXT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8138160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82296" cy="82296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834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 // KEY TECHNOLOGIES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RAG, Memory, and Tool 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706624" cy="3456432"/>
          </a:xfrm>
          <a:prstGeom prst="roundRect">
            <a:avLst>
              <a:gd name="adj" fmla="val 2365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35608"/>
            <a:ext cx="475488" cy="475488"/>
          </a:xfrm>
          <a:prstGeom prst="ellipse">
            <a:avLst/>
          </a:prstGeom>
          <a:solidFill>
            <a:srgbClr val="221F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917" y="1549725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463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0848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live knowledge at query time; ground every claim in sources.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2871216"/>
            <a:ext cx="2240280" cy="0"/>
          </a:xfrm>
          <a:prstGeom prst="line">
            <a:avLst/>
          </a:prstGeom>
          <a:noFill/>
          <a:ln w="9525">
            <a:solidFill>
              <a:srgbClr val="232E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9809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PRACTICE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04088" y="3323844"/>
            <a:ext cx="45720" cy="45720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3273552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+ vector search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04088" y="3799332"/>
            <a:ext cx="45720" cy="45720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" y="374904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Chunking, reranking, citations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55848" y="1207008"/>
            <a:ext cx="2706624" cy="3456432"/>
          </a:xfrm>
          <a:prstGeom prst="roundRect">
            <a:avLst>
              <a:gd name="adj" fmla="val 2365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84448" y="1435608"/>
            <a:ext cx="475488" cy="475488"/>
          </a:xfrm>
          <a:prstGeom prst="ellipse">
            <a:avLst/>
          </a:prstGeom>
          <a:solidFill>
            <a:srgbClr val="221F3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565" y="1549725"/>
            <a:ext cx="247254" cy="24725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97096" y="1463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584448" y="20848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agent state that survives the turn — and the session.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584448" y="2871216"/>
            <a:ext cx="2240280" cy="0"/>
          </a:xfrm>
          <a:prstGeom prst="line">
            <a:avLst/>
          </a:prstGeom>
          <a:noFill/>
          <a:ln w="9525">
            <a:solidFill>
              <a:srgbClr val="232E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84448" y="29809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PRACTICE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602736" y="3323844"/>
            <a:ext cx="45720" cy="45720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24" name="Text 20"/>
          <p:cNvSpPr/>
          <p:nvPr/>
        </p:nvSpPr>
        <p:spPr>
          <a:xfrm>
            <a:off x="3758184" y="3273552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Short-term: window + summaries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602736" y="3799332"/>
            <a:ext cx="45720" cy="45720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26" name="Text 22"/>
          <p:cNvSpPr/>
          <p:nvPr/>
        </p:nvSpPr>
        <p:spPr>
          <a:xfrm>
            <a:off x="3758184" y="374904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Long-term: persistent recall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54496" y="1207008"/>
            <a:ext cx="2706624" cy="3456432"/>
          </a:xfrm>
          <a:prstGeom prst="roundRect">
            <a:avLst>
              <a:gd name="adj" fmla="val 2365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83096" y="1435608"/>
            <a:ext cx="475488" cy="475488"/>
          </a:xfrm>
          <a:prstGeom prst="ellipse">
            <a:avLst/>
          </a:prstGeom>
          <a:solidFill>
            <a:srgbClr val="221F3F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213" y="1549725"/>
            <a:ext cx="247254" cy="24725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095744" y="1463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483096" y="20848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model act: call APIs, run code, touch external systems.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483096" y="2871216"/>
            <a:ext cx="2240280" cy="0"/>
          </a:xfrm>
          <a:prstGeom prst="line">
            <a:avLst/>
          </a:prstGeom>
          <a:noFill/>
          <a:ln w="9525">
            <a:solidFill>
              <a:srgbClr val="232E4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83096" y="29809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PRACTICE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501384" y="3323844"/>
            <a:ext cx="45720" cy="45720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35" name="Text 30"/>
          <p:cNvSpPr/>
          <p:nvPr/>
        </p:nvSpPr>
        <p:spPr>
          <a:xfrm>
            <a:off x="6656832" y="3273552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(2023)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501384" y="3799332"/>
            <a:ext cx="45720" cy="45720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37" name="Text 32"/>
          <p:cNvSpPr/>
          <p:nvPr/>
        </p:nvSpPr>
        <p:spPr>
          <a:xfrm>
            <a:off x="6656832" y="374904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— one port for all tools (2024)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57200" y="4869180"/>
            <a:ext cx="402336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22910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40" name="Shape 35"/>
          <p:cNvSpPr/>
          <p:nvPr/>
        </p:nvSpPr>
        <p:spPr>
          <a:xfrm>
            <a:off x="608076" y="4818888"/>
            <a:ext cx="100584" cy="100584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41" name="Shape 36"/>
          <p:cNvSpPr/>
          <p:nvPr/>
        </p:nvSpPr>
        <p:spPr>
          <a:xfrm>
            <a:off x="825246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42" name="Text 37"/>
          <p:cNvSpPr/>
          <p:nvPr/>
        </p:nvSpPr>
        <p:spPr>
          <a:xfrm>
            <a:off x="1051560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CONTEXT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8138160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82296" cy="82296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834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 // 2025 → · HARNESS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Harness, Not Just the Prompt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is the runtime wrapped around the model — it plans, acts, verifies, and recovers, so no single prompt has to be perfect.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1965960" cy="1170432"/>
          </a:xfrm>
          <a:prstGeom prst="roundRect">
            <a:avLst>
              <a:gd name="adj" fmla="val 5469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755648"/>
            <a:ext cx="365760" cy="365760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843430"/>
            <a:ext cx="190195" cy="1901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1773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2212848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act → observe → repeat until done.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42032" y="1591056"/>
            <a:ext cx="1965960" cy="1170432"/>
          </a:xfrm>
          <a:prstGeom prst="roundRect">
            <a:avLst>
              <a:gd name="adj" fmla="val 5469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06624" y="1755648"/>
            <a:ext cx="365760" cy="365760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406" y="1843430"/>
            <a:ext cx="190195" cy="1901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27248" y="1773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MCP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06624" y="2212848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ports to code, data, and services.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26864" y="1591056"/>
            <a:ext cx="1965960" cy="1170432"/>
          </a:xfrm>
          <a:prstGeom prst="roundRect">
            <a:avLst>
              <a:gd name="adj" fmla="val 5469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91456" y="1755648"/>
            <a:ext cx="365760" cy="365760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238" y="1843430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1773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91456" y="2212848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Sandboxes, approvals, spend &amp; scope limits.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11696" y="1591056"/>
            <a:ext cx="1965960" cy="1170432"/>
          </a:xfrm>
          <a:prstGeom prst="roundRect">
            <a:avLst>
              <a:gd name="adj" fmla="val 5469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76288" y="1755648"/>
            <a:ext cx="365760" cy="365760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070" y="1843430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96912" y="1773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&amp; memory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76288" y="2212848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every run; persist what works.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" y="3017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FRAMEWORK EVOLUTION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310128"/>
            <a:ext cx="1481328" cy="1207008"/>
          </a:xfrm>
          <a:prstGeom prst="roundRect">
            <a:avLst>
              <a:gd name="adj" fmla="val 530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94360" y="34381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594360" y="363931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AutoGPT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94360" y="41696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viral autonomous loop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1965960" y="3913632"/>
            <a:ext cx="118872" cy="0"/>
          </a:xfrm>
          <a:prstGeom prst="line">
            <a:avLst/>
          </a:prstGeom>
          <a:noFill/>
          <a:ln w="1587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2112264" y="3310128"/>
            <a:ext cx="1481328" cy="1207008"/>
          </a:xfrm>
          <a:prstGeom prst="roundRect">
            <a:avLst>
              <a:gd name="adj" fmla="val 530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249424" y="34381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2023–24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2249424" y="363931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LangChain, LlamaIndex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2249424" y="41696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agent toolkits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3621024" y="3913632"/>
            <a:ext cx="118872" cy="0"/>
          </a:xfrm>
          <a:prstGeom prst="line">
            <a:avLst/>
          </a:prstGeom>
          <a:noFill/>
          <a:ln w="1587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3767328" y="3310128"/>
            <a:ext cx="1481328" cy="1207008"/>
          </a:xfrm>
          <a:prstGeom prst="roundRect">
            <a:avLst>
              <a:gd name="adj" fmla="val 530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904488" y="34381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3904488" y="363931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3904488" y="41696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get a standard port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5276088" y="3913632"/>
            <a:ext cx="118872" cy="0"/>
          </a:xfrm>
          <a:prstGeom prst="line">
            <a:avLst/>
          </a:prstGeom>
          <a:noFill/>
          <a:ln w="1587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5422392" y="3310128"/>
            <a:ext cx="1481328" cy="1207008"/>
          </a:xfrm>
          <a:prstGeom prst="roundRect">
            <a:avLst>
              <a:gd name="adj" fmla="val 530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559552" y="34381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5559552" y="363931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CLIs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5559552" y="41696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 ship as products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6931152" y="3913632"/>
            <a:ext cx="118872" cy="0"/>
          </a:xfrm>
          <a:prstGeom prst="line">
            <a:avLst/>
          </a:prstGeom>
          <a:noFill/>
          <a:ln w="1587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47" name="Shape 41"/>
          <p:cNvSpPr/>
          <p:nvPr/>
        </p:nvSpPr>
        <p:spPr>
          <a:xfrm>
            <a:off x="7077456" y="3310128"/>
            <a:ext cx="1481328" cy="1207008"/>
          </a:xfrm>
          <a:prstGeom prst="roundRect">
            <a:avLst>
              <a:gd name="adj" fmla="val 530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7214616" y="34381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→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7214616" y="363931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era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7214616" y="41696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gateways, sub-agents, runtimes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457200" y="4869180"/>
            <a:ext cx="402336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422910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53" name="Shape 47"/>
          <p:cNvSpPr/>
          <p:nvPr/>
        </p:nvSpPr>
        <p:spPr>
          <a:xfrm>
            <a:off x="624078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54" name="Shape 48"/>
          <p:cNvSpPr/>
          <p:nvPr/>
        </p:nvSpPr>
        <p:spPr>
          <a:xfrm>
            <a:off x="809244" y="4818888"/>
            <a:ext cx="100584" cy="100584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55" name="Text 49"/>
          <p:cNvSpPr/>
          <p:nvPr/>
        </p:nvSpPr>
        <p:spPr>
          <a:xfrm>
            <a:off x="1051560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HARNESS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8138160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82296" cy="82296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834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 // REPRESENTATIVE 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Agents That Define the Era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706624" cy="1700784"/>
          </a:xfrm>
          <a:prstGeom prst="roundRect">
            <a:avLst>
              <a:gd name="adj" fmla="val 376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1463772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89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AutoGPT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505456" y="1426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5568" y="1664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PIONEER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0080" y="1993392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viral open-source autonomous agent: a goal-driven think–act loop. Harnesses proved buildable — and hard.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55848" y="1207008"/>
            <a:ext cx="2706624" cy="1700784"/>
          </a:xfrm>
          <a:prstGeom prst="roundRect">
            <a:avLst>
              <a:gd name="adj" fmla="val 376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38728" y="1371600"/>
            <a:ext cx="384048" cy="384048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900" y="1463772"/>
            <a:ext cx="199705" cy="1997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14216" y="1389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04104" y="1426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014216" y="1664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RESEARCH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538728" y="1993392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tool + sub-agents + a virtual file system, tuned for long-horizon, multi-step research tasks.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54496" y="1207008"/>
            <a:ext cx="2706624" cy="1700784"/>
          </a:xfrm>
          <a:prstGeom prst="roundRect">
            <a:avLst>
              <a:gd name="adj" fmla="val 376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37376" y="1371600"/>
            <a:ext cx="384048" cy="384048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548" y="1463772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12864" y="1389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ACPAgent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302752" y="1426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912864" y="1664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PROTOCOL-NATIVE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437376" y="1993392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open agent–client protocols, so one agent plugs into many IDEs, editors, and frontends.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57200" y="3054096"/>
            <a:ext cx="2706624" cy="1700784"/>
          </a:xfrm>
          <a:prstGeom prst="roundRect">
            <a:avLst>
              <a:gd name="adj" fmla="val 376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3218688"/>
            <a:ext cx="384048" cy="384048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" y="3310860"/>
            <a:ext cx="199705" cy="19970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15568" y="32369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2505456" y="32735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1115568" y="35112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SELF-HOSTED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40080" y="3840480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personal-assistant gateway — connects to your chat channels and runs on your own hardware.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355848" y="3054096"/>
            <a:ext cx="2706624" cy="1700784"/>
          </a:xfrm>
          <a:prstGeom prst="roundRect">
            <a:avLst>
              <a:gd name="adj" fmla="val 3763"/>
            </a:avLst>
          </a:prstGeom>
          <a:solidFill>
            <a:srgbClr val="121A2C"/>
          </a:solidFill>
          <a:ln w="9525">
            <a:solidFill>
              <a:srgbClr val="232E4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538728" y="3218688"/>
            <a:ext cx="384048" cy="384048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900" y="3310860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014216" y="32369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HermesAgent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5404104" y="32735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4014216" y="35112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OPEN-WEIGHT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3538728" y="3840480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Hermes model family paired with a task-harness runtime for tool use and long-running jobs.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254496" y="3054096"/>
            <a:ext cx="2706624" cy="1700784"/>
          </a:xfrm>
          <a:prstGeom prst="roundRect">
            <a:avLst>
              <a:gd name="adj" fmla="val 3763"/>
            </a:avLst>
          </a:prstGeom>
          <a:solidFill>
            <a:srgbClr val="0F2E26"/>
          </a:solidFill>
          <a:ln w="9525">
            <a:solidFill>
              <a:srgbClr val="1C5A46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437376" y="3218688"/>
            <a:ext cx="384048" cy="384048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548" y="3310860"/>
            <a:ext cx="199705" cy="199705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912864" y="32369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6912864" y="35112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 THREAD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6437376" y="3840480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act → verify loops, standardized tools via MCP, and a human on the approval path.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457200" y="4869180"/>
            <a:ext cx="402336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422910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48" name="Shape 40"/>
          <p:cNvSpPr/>
          <p:nvPr/>
        </p:nvSpPr>
        <p:spPr>
          <a:xfrm>
            <a:off x="624078" y="4834890"/>
            <a:ext cx="68580" cy="68580"/>
          </a:xfrm>
          <a:prstGeom prst="ellipse">
            <a:avLst/>
          </a:prstGeom>
          <a:solidFill>
            <a:srgbClr val="26314D"/>
          </a:solidFill>
          <a:ln/>
        </p:spPr>
      </p:sp>
      <p:sp>
        <p:nvSpPr>
          <p:cNvPr id="49" name="Shape 41"/>
          <p:cNvSpPr/>
          <p:nvPr/>
        </p:nvSpPr>
        <p:spPr>
          <a:xfrm>
            <a:off x="809244" y="4818888"/>
            <a:ext cx="100584" cy="100584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50" name="Text 42"/>
          <p:cNvSpPr/>
          <p:nvPr/>
        </p:nvSpPr>
        <p:spPr>
          <a:xfrm>
            <a:off x="1051560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HARNESS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8138160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82296" cy="82296"/>
          </a:xfrm>
          <a:prstGeom prst="ellipse">
            <a:avLst/>
          </a:prstGeom>
          <a:solidFill>
            <a:srgbClr val="8CA0B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834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8C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Paradigms, Side by Side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21992"/>
                <a:gridCol w="2221992"/>
                <a:gridCol w="22311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D6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Engineering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8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Engineering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5E0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Harness Engineering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CA0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question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do I ask?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does the model see?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surrounds the model?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CA0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of 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single prompt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context window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whole agent runtime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CA0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tech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Few-shot, CoT, role prompts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RAG, memory, function calling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Loops, MCP tools, guardrails, evals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CA0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mode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Brittle asks, hallucination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rot, token burn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Runaway loops, unsafe actions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CA0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 – 2023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– 2025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→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69180"/>
            <a:ext cx="402336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6908" y="4818888"/>
            <a:ext cx="100584" cy="100584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8" name="Shape 5"/>
          <p:cNvSpPr/>
          <p:nvPr/>
        </p:nvSpPr>
        <p:spPr>
          <a:xfrm>
            <a:off x="608076" y="4818888"/>
            <a:ext cx="100584" cy="100584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9" name="Shape 6"/>
          <p:cNvSpPr/>
          <p:nvPr/>
        </p:nvSpPr>
        <p:spPr>
          <a:xfrm>
            <a:off x="809244" y="4818888"/>
            <a:ext cx="100584" cy="100584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10" name="Text 7"/>
          <p:cNvSpPr/>
          <p:nvPr/>
        </p:nvSpPr>
        <p:spPr>
          <a:xfrm>
            <a:off x="8138160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82296" cy="82296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834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Wrapped the Last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955280" y="365760"/>
            <a:ext cx="640080" cy="256032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275320" y="621792"/>
            <a:ext cx="320040" cy="384048"/>
          </a:xfrm>
          <a:prstGeom prst="line">
            <a:avLst/>
          </a:prstGeom>
          <a:noFill/>
          <a:ln w="9525">
            <a:solidFill>
              <a:srgbClr val="1E2A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32420" y="342900"/>
            <a:ext cx="45720" cy="45720"/>
          </a:xfrm>
          <a:prstGeom prst="ellipse">
            <a:avLst/>
          </a:prstGeom>
          <a:solidFill>
            <a:srgbClr val="9F8CF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63356" y="589788"/>
            <a:ext cx="64008" cy="64008"/>
          </a:xfrm>
          <a:prstGeom prst="ellipse">
            <a:avLst/>
          </a:prstGeom>
          <a:solidFill>
            <a:srgbClr val="33D6E8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57032" y="987552"/>
            <a:ext cx="36576" cy="36576"/>
          </a:xfrm>
          <a:prstGeom prst="ellipse">
            <a:avLst/>
          </a:prstGeom>
          <a:solidFill>
            <a:srgbClr val="35E0A1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10283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82" y="1459382"/>
            <a:ext cx="190195" cy="1901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32688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became components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32688" y="16642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perfect ask still matters — now it's one input among many.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304288"/>
            <a:ext cx="365760" cy="365760"/>
          </a:xfrm>
          <a:prstGeom prst="ellipse">
            <a:avLst/>
          </a:prstGeom>
          <a:solidFill>
            <a:srgbClr val="221F3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" y="2392070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32688" y="2304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became a resource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932688" y="25968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Retrieval, memory, and tools turned the window into managed working memory.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236976"/>
            <a:ext cx="365760" cy="365760"/>
          </a:xfrm>
          <a:prstGeom prst="ellipse">
            <a:avLst/>
          </a:prstGeom>
          <a:solidFill>
            <a:srgbClr val="0F2B2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" y="3324758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" y="3236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Harnesses became the product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32688" y="35295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moved to loops, guardrails, and evals around the model.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42793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next: agents that improve their own harnesses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20640" y="1298448"/>
            <a:ext cx="3383280" cy="3127248"/>
          </a:xfrm>
          <a:prstGeom prst="roundRect">
            <a:avLst>
              <a:gd name="adj" fmla="val 2924"/>
            </a:avLst>
          </a:prstGeom>
          <a:solidFill>
            <a:srgbClr val="35E0A1">
              <a:alpha val="8000"/>
            </a:srgbClr>
          </a:solidFill>
          <a:ln w="15875">
            <a:solidFill>
              <a:srgbClr val="1C5A4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20640" y="14264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 — the runtime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532120" y="1783080"/>
            <a:ext cx="2560320" cy="2331720"/>
          </a:xfrm>
          <a:prstGeom prst="roundRect">
            <a:avLst>
              <a:gd name="adj" fmla="val 3529"/>
            </a:avLst>
          </a:prstGeom>
          <a:solidFill>
            <a:srgbClr val="9F8CFF">
              <a:alpha val="10000"/>
            </a:srgbClr>
          </a:solidFill>
          <a:ln w="15875">
            <a:solidFill>
              <a:srgbClr val="3D386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532120" y="1911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— what it sees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989320" y="2450592"/>
            <a:ext cx="1645920" cy="1280160"/>
          </a:xfrm>
          <a:prstGeom prst="roundRect">
            <a:avLst>
              <a:gd name="adj" fmla="val 5714"/>
            </a:avLst>
          </a:prstGeom>
          <a:solidFill>
            <a:srgbClr val="33D6E8">
              <a:alpha val="12000"/>
            </a:srgbClr>
          </a:solidFill>
          <a:ln w="15875">
            <a:solidFill>
              <a:srgbClr val="1E4A5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989320" y="2450592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it's asked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57200" y="4869180"/>
            <a:ext cx="402336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06908" y="4818888"/>
            <a:ext cx="100584" cy="100584"/>
          </a:xfrm>
          <a:prstGeom prst="ellipse">
            <a:avLst/>
          </a:prstGeom>
          <a:solidFill>
            <a:srgbClr val="33D6E8"/>
          </a:solidFill>
          <a:ln/>
        </p:spPr>
      </p:sp>
      <p:sp>
        <p:nvSpPr>
          <p:cNvPr id="31" name="Shape 26"/>
          <p:cNvSpPr/>
          <p:nvPr/>
        </p:nvSpPr>
        <p:spPr>
          <a:xfrm>
            <a:off x="608076" y="4818888"/>
            <a:ext cx="100584" cy="100584"/>
          </a:xfrm>
          <a:prstGeom prst="ellipse">
            <a:avLst/>
          </a:prstGeom>
          <a:solidFill>
            <a:srgbClr val="9F8CFF"/>
          </a:solidFill>
          <a:ln/>
        </p:spPr>
      </p:sp>
      <p:sp>
        <p:nvSpPr>
          <p:cNvPr id="32" name="Shape 27"/>
          <p:cNvSpPr/>
          <p:nvPr/>
        </p:nvSpPr>
        <p:spPr>
          <a:xfrm>
            <a:off x="809244" y="4818888"/>
            <a:ext cx="100584" cy="100584"/>
          </a:xfrm>
          <a:prstGeom prst="ellipse">
            <a:avLst/>
          </a:prstGeom>
          <a:solidFill>
            <a:srgbClr val="35E0A1"/>
          </a:solidFill>
          <a:ln/>
        </p:spPr>
      </p:sp>
      <p:sp>
        <p:nvSpPr>
          <p:cNvPr id="33" name="Text 28"/>
          <p:cNvSpPr/>
          <p:nvPr/>
        </p:nvSpPr>
        <p:spPr>
          <a:xfrm>
            <a:off x="8138160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AI Agents</dc:title>
  <dc:subject>PptxGenJS Presentation</dc:subject>
  <dc:creator>ZCode</dc:creator>
  <cp:lastModifiedBy>ZCode</cp:lastModifiedBy>
  <cp:revision>1</cp:revision>
  <dcterms:created xsi:type="dcterms:W3CDTF">2026-08-24T13:39:10Z</dcterms:created>
  <dcterms:modified xsi:type="dcterms:W3CDTF">2026-08-24T13:39:10Z</dcterms:modified>
</cp:coreProperties>
</file>